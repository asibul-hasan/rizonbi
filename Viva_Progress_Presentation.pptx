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panel. State the project title, module code, and that this is the formative progress viva ahead of the final dissertation.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'why' with the SME spreadsheet problem and the McKinsey stat, then pivot to a distinct, specific research-problem statement — don't just repeat the motivation.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all seven objectives briefly. Be clear about which four are done and which three remain — this framing carries through the rest of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real measured throughput/latency once you have it — replace the bracketed placeholders before presenting. If not yet benchmarked, say so plainly rather than guessing.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what Druid adds over a plain relational store for this workload. Fill in the actual p95 query time once you've benchmarked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 to at least one real problem you hit and how you resolved it — supervisors will ask about this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the concrete plan to close out the remaining six weeks. Mention the contingency buffer if asked about risk to the final deadline.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content is already settled from the proposal — keep it brief unless the panel asks you to expand on a specific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restating where the project stands and what's next, then open the floor to the panel's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5029200"/>
            <a:ext cx="1554480" cy="1554480"/>
          </a:xfrm>
          <a:prstGeom prst="ellipse">
            <a:avLst/>
          </a:prstGeom>
          <a:solidFill>
            <a:srgbClr val="CADCFC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109960" y="5806440"/>
            <a:ext cx="822960" cy="822960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46920" y="5989320"/>
            <a:ext cx="502920" cy="502920"/>
          </a:xfrm>
          <a:prstGeom prst="ellipse">
            <a:avLst/>
          </a:prstGeom>
          <a:solidFill>
            <a:srgbClr val="CADCFC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10698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and Implementation of a Scalable Data Warehouse for Real-Time Business Intelligence and Decision Support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Formative Viva — Progress Presentation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1663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M Hosney Arafat Rizon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K2554665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Islam Choudhury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Information Systems — Project Dissertation (CI7000)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week: 7 September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 &amp; Research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3258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23×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788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likely to acquire customers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17520" y="18288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6×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3017520" y="2788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likely to retain customers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McKinsey Global Institute (2021) — orgs using data analytics extensively vs. peers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SMEs still rely on spreadsheet-based reporting — error-prone, unscalable, and unable to deliver the sub-minute insight today's markets demand.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212080" cy="4251960"/>
          </a:xfrm>
          <a:prstGeom prst="roundRect">
            <a:avLst>
              <a:gd name="adj" fmla="val 2151"/>
            </a:avLst>
          </a:prstGeom>
          <a:solidFill>
            <a:srgbClr val="EEF2FB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554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Problem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355080" y="2148840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published study integrates dimensional modelling, Kafka-based streaming, columnar OLAP, open-source BI, and GDPR-compliant governance into one validated reference architecture — evaluated specifically in an SME context.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55080" y="443484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addresses that gap directly.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Aims &amp; Objectives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implement, and evaluate a scalable open-source data warehouse architecture for real-time BI, suited to SME deployment.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1097280" cy="10972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2860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4592" y="35204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48840" y="2286000"/>
            <a:ext cx="1097280" cy="10972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22860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56232" y="35204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0" y="2286000"/>
            <a:ext cx="1097280" cy="10972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22860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47872" y="35204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32120" y="2286000"/>
            <a:ext cx="1097280" cy="10972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532120" y="22860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39512" y="35204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Query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23760" y="2286000"/>
            <a:ext cx="1097280" cy="10972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22860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31152" y="35204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15400" y="2286000"/>
            <a:ext cx="1097280" cy="10972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15400" y="22860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22792" y="35204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607040" y="2286000"/>
            <a:ext cx="1097280" cy="10972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07040" y="22860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O7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314432" y="35204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Dissertation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Write-up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257800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5257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51937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— Weeks 1–10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023360" y="5257800"/>
            <a:ext cx="27432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0" y="5257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434840" y="51937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— Weeks 11–16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reached the Week 10 milestone (M3) — O1–O4 complete, O5–O7 ahead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— Data Foundations &amp; Pipelines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9418320" y="45720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9418320" y="457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O1–O3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EEF2F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45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&amp;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star schema finalised across sales, inventory, finance, and HR domains.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schema (DDL scripts)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diagram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 model documentation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33672" y="137160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EEF2FB"/>
          </a:solidFill>
          <a:ln/>
        </p:spPr>
      </p:sp>
      <p:sp>
        <p:nvSpPr>
          <p:cNvPr id="12" name="Shape 10"/>
          <p:cNvSpPr/>
          <p:nvPr/>
        </p:nvSpPr>
        <p:spPr>
          <a:xfrm>
            <a:off x="4507992" y="1645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507992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07992" y="24231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Pipeline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07992" y="32461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+ dbt orchestrating version-controlled transformations with automated quality tests.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07992" y="4206240"/>
            <a:ext cx="2971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429768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(proposal):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≥500K rows/batch, &gt;99% acceptance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result: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measured figures]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10144" y="137160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EEF2FB"/>
          </a:solidFill>
          <a:ln/>
        </p:spPr>
      </p:sp>
      <p:sp>
        <p:nvSpPr>
          <p:cNvPr id="19" name="Shape 17"/>
          <p:cNvSpPr/>
          <p:nvPr/>
        </p:nvSpPr>
        <p:spPr>
          <a:xfrm>
            <a:off x="8284464" y="1645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8284464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84464" y="24231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84464" y="32461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cluster ingesting simulated real-time events from operational sources.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84464" y="4206240"/>
            <a:ext cx="2971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21624" y="429768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(proposal):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≥10,000 msgs/sec, &lt;2s latency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result: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measured figures]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— OLAP Query Layer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418320" y="45720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9418320" y="457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O4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08760" y="162763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Aiven Cloud PostgreSQL 17 — Real-Time Analytical Store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6035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Kimball star schema deployed on Aiven Cloud with composite B-tree indexing and conformed surrogate keys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and dimension tables loaded from the staging layer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interface validated for downstream BI-tool compatibility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0" y="1554480"/>
            <a:ext cx="4846320" cy="4206240"/>
          </a:xfrm>
          <a:prstGeom prst="roundRect">
            <a:avLst>
              <a:gd name="adj" fmla="val 1739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/>
          <p:nvPr/>
        </p:nvSpPr>
        <p:spPr>
          <a:xfrm>
            <a:off x="7178040" y="1783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SLA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178040" y="2377440"/>
            <a:ext cx="420624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360920" y="2514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(from proposal)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60920" y="28346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50M+ row fact table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95th-percentile response &lt; 500ms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178040" y="3931920"/>
            <a:ext cx="420624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4069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RESULT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60920" y="43891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measured p95 latency and fact-table row count]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</a:rPr>
              <a:t>Problems Encountered &amp; Resolutions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</a:rPr>
              <a:t>Risks anticipated in the research proposal and empirical resolution strategies executed through Week 10.</a:t>
            </a:r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457200" y="1650000"/>
          <a:ext cx="11247120" cy="4350000"/>
        </p:xfrm>
        <a:graphic>
          <a:graphicData uri="http://schemas.openxmlformats.org/drawingml/2006/table">
            <a:tbl>
              <a:tblPr/>
              <a:tblGrid>
                <a:gridCol w="2600000"/>
                <a:gridCol w="4200000"/>
                <a:gridCol w="4447120"/>
              </a:tblGrid>
              <a:tr h="60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(from proposal)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Actually Happened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 / 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integration complexity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Disparate timestamp formats &amp; granularity across staging domains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Standardized integer date keys (YYYYMMDD) in conformed dim_date (2020–2030) with explicit referential integrity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bottlenecks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buffer cache reads (&gt;600 shared hits) on unindexed raw staging queries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 Kimball Star Schema with surrogate keys and materialized views (mat_monthly_sales), achieving sub-2ms response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65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creep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Managing complex cross-departmental requirements across 4 SME domains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Strictly bounded project scope to core analytical KPIs for Sales, Inventory, Finance, and HR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quality issues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HR date boundary edge cases and potential null FK risks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Engineered automated PL/pgSQL assertion suite (fn_audit_data_quality) verifying 5/5 constraints before fact loading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65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/ GDPR breach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of exposing direct customer PII and sensitive employee compensation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Implemented salted SHA-256 pseudonymisation for clients and departmental aggregate rollups for HR metrics (GDPR Art. 25/32)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Plan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291840" cy="4023360"/>
          </a:xfrm>
          <a:prstGeom prst="roundRect">
            <a:avLst>
              <a:gd name="adj" fmla="val 2222"/>
            </a:avLst>
          </a:prstGeom>
          <a:solidFill>
            <a:srgbClr val="EEF2FB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0" y="182880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11–12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 Dashboard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379476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interactive Superset dashboards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procurement, HR, finance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access control (RBAC)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913632" y="3429000"/>
            <a:ext cx="365760" cy="27432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4343400" y="1554480"/>
            <a:ext cx="3291840" cy="4023360"/>
          </a:xfrm>
          <a:prstGeom prst="roundRect">
            <a:avLst>
              <a:gd name="adj" fmla="val 2222"/>
            </a:avLst>
          </a:prstGeom>
          <a:solidFill>
            <a:srgbClr val="EEF2FB"/>
          </a:solidFill>
          <a:ln/>
        </p:spPr>
      </p:sp>
      <p:sp>
        <p:nvSpPr>
          <p:cNvPr id="11" name="Shape 9"/>
          <p:cNvSpPr/>
          <p:nvPr/>
        </p:nvSpPr>
        <p:spPr>
          <a:xfrm>
            <a:off x="5623560" y="182880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43400" y="2743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13–14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43400" y="3108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Evaluation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63440" y="379476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benchmarking vs SLAs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with 5+ proxy users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08392" y="3429000"/>
            <a:ext cx="365760" cy="274320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8138160" y="1554480"/>
            <a:ext cx="3291840" cy="4023360"/>
          </a:xfrm>
          <a:prstGeom prst="roundRect">
            <a:avLst>
              <a:gd name="adj" fmla="val 2222"/>
            </a:avLst>
          </a:prstGeom>
          <a:solidFill>
            <a:srgbClr val="EEF2FB"/>
          </a:solidFill>
          <a:ln/>
        </p:spPr>
      </p:sp>
      <p:sp>
        <p:nvSpPr>
          <p:cNvPr id="18" name="Shape 16"/>
          <p:cNvSpPr/>
          <p:nvPr/>
        </p:nvSpPr>
        <p:spPr>
          <a:xfrm>
            <a:off x="9418320" y="182880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O7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38160" y="2743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15–16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38160" y="3108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Dissertation Write-up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58200" y="379476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12,000–15,000 words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revision pass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submission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two-week contingency buffer is built into the schedule after implementation, before the write-up phase.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Ethics, Legal &amp; Professional Considerations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EEF2F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600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214884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dataset is fully synthetic — avoids GDPR exposure by design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real SME data is used: formal DPIA (GDPR Art. 35) and university Research Ethics Committee approval sought first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limited to aggregate, anonymised metrics — no individual-level employee monitoring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 decisions documented for transparency, with limitations noted for known data biases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9360" y="137160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EEF2FB"/>
          </a:solidFill>
          <a:ln/>
        </p:spPr>
      </p:sp>
      <p:sp>
        <p:nvSpPr>
          <p:cNvPr id="7" name="Text 5"/>
          <p:cNvSpPr/>
          <p:nvPr/>
        </p:nvSpPr>
        <p:spPr>
          <a:xfrm>
            <a:off x="6629400" y="1600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&amp; Professional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629400" y="214884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permissive open-source licences used — Apache 2.0, MIT, PostgreSQL Licence; no GPL components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licences documented in NOTICES.md per Apache 2.0 requirements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AI assistance used will be declared in the dissertation's methodology section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secret scanning (git-secrets) and dependency vulnerability scanning (Dependabot) in CI/CD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-548640"/>
            <a:ext cx="1737360" cy="1737360"/>
          </a:xfrm>
          <a:prstGeom prst="ellipse">
            <a:avLst/>
          </a:prstGeom>
          <a:solidFill>
            <a:srgbClr val="CADCF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82880" y="5440680"/>
            <a:ext cx="914400" cy="914400"/>
          </a:xfrm>
          <a:prstGeom prst="ellipse">
            <a:avLst/>
          </a:prstGeom>
          <a:solidFill>
            <a:srgbClr val="CADCFC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Next Steps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O1–O4 complete — on track against the 16-week plan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milestone (M4, End Week 12): BI dashboard prototype reviewed by supervisor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2026-08-25T10:36:50Z</dcterms:created>
  <dcterms:modified xsi:type="dcterms:W3CDTF">2026-08-25T10:36:50Z</dcterms:modified>
</cp:coreProperties>
</file>